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Anton"/>
      <p:regular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Anton-regular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79954b25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79954b252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76e5d9ee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a76e5d9eea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79954b25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79954b252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79954b25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79954b252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79954b25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79954b252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79954b2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79954b25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76e5d9e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a76e5d9ee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da8f45a4a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da8f45a4a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48f7abf76a5ca5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Profit Growth Driven by Efficiency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Profit growth now outpacing revenue growth due to major cost-cutting initiatives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Actions taken: workforce reductions, shutdown of underperforming products (e.g., PayPal Rewards), infrastructure optimization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These changes are expanding operating margins and boosting EPS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Management guiding 20%+ GAAP EPS growth in 2025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PayPal is positioned to deliver earnings growth ahead of revenue over the next 2–3 years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Strong, More Connected Platform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PayPal is consolidating payments, fraud protection, financing, and identity tools into PayPal Open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Creates a single, integrated system for both consumers and businesses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Benefits: better conversion rates, fewer fraud losses, faster and easier onboarding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PayPal Complete Payments (PCP) is gaining traction with small businesses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Platform upgrades expected to improve customer retention and increase usage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New Growth Opportunities: Venmo + International Markets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Venmo is still early in monetization, especially in business payments and online checkout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Growth drivers: Venmo Business Profiles, Pay with Venmo, rising adoption among merchants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International expansion in Germany, Brazil, and other markets with growing branded checkout and BNPL demand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PayPal’s global merchant relationships create potential for Venmo features to scale internationally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Represents a long-term opportunity for sustained revenue and earnings growth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48f7abf76a5ca5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db3fec2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adb3fec2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db3fec2c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adb3fec2c8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db3fec2c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adb3fec2c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48f7abf76a5ca54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48f7abf76a5ca54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79954b25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a79954b252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1525588" y="39150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1" name="Google Shape;11;p3"/>
          <p:cNvGrpSpPr/>
          <p:nvPr/>
        </p:nvGrpSpPr>
        <p:grpSpPr>
          <a:xfrm rot="2700000">
            <a:off x="9592809" y="-1577859"/>
            <a:ext cx="2847034" cy="3027860"/>
            <a:chOff x="0" y="-47625"/>
            <a:chExt cx="749835" cy="797460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13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 rot="2700000">
            <a:off x="14142291" y="8771972"/>
            <a:ext cx="2847034" cy="3027860"/>
            <a:chOff x="0" y="-47625"/>
            <a:chExt cx="749835" cy="79746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 rot="2700000">
            <a:off x="12571564" y="9267339"/>
            <a:ext cx="2741727" cy="2922839"/>
            <a:chOff x="0" y="-47625"/>
            <a:chExt cx="722100" cy="769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 rot="2700000">
            <a:off x="18248918" y="-424955"/>
            <a:ext cx="5498479" cy="5679374"/>
            <a:chOff x="0" y="-47625"/>
            <a:chExt cx="1448157" cy="1495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1448157" cy="1448157"/>
            </a:xfrm>
            <a:custGeom>
              <a:rect b="b" l="l" r="r" t="t"/>
              <a:pathLst>
                <a:path extrusionOk="0" h="1448157" w="1448157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2" name="Google Shape;22;p3"/>
            <p:cNvSpPr txBox="1"/>
            <p:nvPr/>
          </p:nvSpPr>
          <p:spPr>
            <a:xfrm>
              <a:off x="0" y="-47625"/>
              <a:ext cx="1448100" cy="14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26" name="Google Shape;26;p3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" name="Google Shape;27;p3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" name="Google Shape;28;p3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32" name="Google Shape;32;p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3" name="Google Shape;33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" name="Google Shape;36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2700000">
            <a:off x="12161978" y="-1575435"/>
            <a:ext cx="2741727" cy="2922839"/>
            <a:chOff x="0" y="-47625"/>
            <a:chExt cx="722100" cy="7698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2" name="Google Shape;42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grpSp>
        <p:nvGrpSpPr>
          <p:cNvPr id="45" name="Google Shape;45;p4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48" name="Google Shape;48;p4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" name="Google Shape;50;p4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idx="1" type="body"/>
          </p:nvPr>
        </p:nvSpPr>
        <p:spPr>
          <a:xfrm>
            <a:off x="2031438" y="5793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" name="Google Shape;53;p5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54" name="Google Shape;54;p5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55" name="Google Shape;55;p5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56" name="Google Shape;56;p5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" name="Google Shape;57;p5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8" name="Google Shape;58;p5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59" name="Google Shape;59;p5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60" name="Google Shape;60;p5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61" name="Google Shape;61;p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2" name="Google Shape;62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5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5" name="Google Shape;65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5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67" name="Google Shape;67;p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8" name="Google Shape;68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idx="1" type="body"/>
          </p:nvPr>
        </p:nvSpPr>
        <p:spPr>
          <a:xfrm>
            <a:off x="4338200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2" type="body"/>
          </p:nvPr>
        </p:nvSpPr>
        <p:spPr>
          <a:xfrm>
            <a:off x="9232907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2" name="Google Shape;72;p6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73" name="Google Shape;73;p6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75" name="Google Shape;75;p6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" name="Google Shape;76;p6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7" name="Google Shape;77;p6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78" name="Google Shape;78;p6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9" name="Google Shape;79;p6"/>
          <p:cNvGrpSpPr/>
          <p:nvPr/>
        </p:nvGrpSpPr>
        <p:grpSpPr>
          <a:xfrm rot="2700000">
            <a:off x="-1383233" y="4767676"/>
            <a:ext cx="2741727" cy="2922839"/>
            <a:chOff x="0" y="-47625"/>
            <a:chExt cx="722100" cy="769800"/>
          </a:xfrm>
        </p:grpSpPr>
        <p:sp>
          <p:nvSpPr>
            <p:cNvPr id="80" name="Google Shape;80;p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81" name="Google Shape;81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6"/>
          <p:cNvGrpSpPr/>
          <p:nvPr/>
        </p:nvGrpSpPr>
        <p:grpSpPr>
          <a:xfrm rot="2700000">
            <a:off x="16980967" y="3844570"/>
            <a:ext cx="2741727" cy="2922839"/>
            <a:chOff x="0" y="-47625"/>
            <a:chExt cx="722100" cy="769800"/>
          </a:xfrm>
        </p:grpSpPr>
        <p:sp>
          <p:nvSpPr>
            <p:cNvPr id="83" name="Google Shape;83;p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84" name="Google Shape;84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idx="1" type="body"/>
          </p:nvPr>
        </p:nvSpPr>
        <p:spPr>
          <a:xfrm>
            <a:off x="3775400" y="4974625"/>
            <a:ext cx="5271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2" type="body"/>
          </p:nvPr>
        </p:nvSpPr>
        <p:spPr>
          <a:xfrm>
            <a:off x="9239209" y="4974625"/>
            <a:ext cx="52734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8" name="Google Shape;88;p7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89" name="Google Shape;89;p7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90" name="Google Shape;90;p7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91" name="Google Shape;91;p7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7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3" name="Google Shape;93;p7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94" name="Google Shape;94;p7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5" name="Google Shape;95;p7"/>
          <p:cNvGrpSpPr/>
          <p:nvPr/>
        </p:nvGrpSpPr>
        <p:grpSpPr>
          <a:xfrm rot="2700000">
            <a:off x="11631253" y="-1522967"/>
            <a:ext cx="2741727" cy="2922839"/>
            <a:chOff x="0" y="-47625"/>
            <a:chExt cx="722100" cy="769800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97" name="Google Shape;97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7"/>
          <p:cNvGrpSpPr/>
          <p:nvPr/>
        </p:nvGrpSpPr>
        <p:grpSpPr>
          <a:xfrm rot="2700000">
            <a:off x="9692624" y="-2435115"/>
            <a:ext cx="2741727" cy="2922839"/>
            <a:chOff x="0" y="-47625"/>
            <a:chExt cx="722100" cy="769800"/>
          </a:xfrm>
        </p:grpSpPr>
        <p:sp>
          <p:nvSpPr>
            <p:cNvPr id="99" name="Google Shape;99;p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0" name="Google Shape;100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 rot="2700000">
            <a:off x="4056857" y="9670886"/>
            <a:ext cx="2741727" cy="2922839"/>
            <a:chOff x="0" y="-47625"/>
            <a:chExt cx="722100" cy="769800"/>
          </a:xfrm>
        </p:grpSpPr>
        <p:sp>
          <p:nvSpPr>
            <p:cNvPr id="102" name="Google Shape;102;p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3" name="Google Shape;103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8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06" name="Google Shape;106;p8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07" name="Google Shape;107;p8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08" name="Google Shape;108;p8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8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0" name="Google Shape;110;p8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12" name="Google Shape;112;p8"/>
          <p:cNvGrpSpPr/>
          <p:nvPr/>
        </p:nvGrpSpPr>
        <p:grpSpPr>
          <a:xfrm rot="2700000">
            <a:off x="5580756" y="-1461657"/>
            <a:ext cx="2017283" cy="2082209"/>
            <a:chOff x="0" y="-47625"/>
            <a:chExt cx="531300" cy="54840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4" name="Google Shape;114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17343287" y="2054756"/>
            <a:ext cx="2017283" cy="2082209"/>
            <a:chOff x="0" y="-47625"/>
            <a:chExt cx="531300" cy="548400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7" name="Google Shape;117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856803" y="9001300"/>
            <a:ext cx="2741727" cy="2922839"/>
            <a:chOff x="0" y="-47625"/>
            <a:chExt cx="722100" cy="769800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20" name="Google Shape;120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2121767" y="9671743"/>
            <a:ext cx="2741727" cy="2922839"/>
            <a:chOff x="0" y="-47625"/>
            <a:chExt cx="722100" cy="769800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23" name="Google Shape;123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8536213" y="4471550"/>
            <a:ext cx="62241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2" type="body"/>
          </p:nvPr>
        </p:nvSpPr>
        <p:spPr>
          <a:xfrm>
            <a:off x="3527688" y="4471550"/>
            <a:ext cx="4846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27" name="Google Shape;127;p9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28" name="Google Shape;128;p9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29" name="Google Shape;129;p9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30" name="Google Shape;130;p9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9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2" name="Google Shape;132;p9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33" name="Google Shape;133;p9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135" name="Google Shape;135;p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6" name="Google Shape;136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9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138" name="Google Shape;138;p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9" name="Google Shape;139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9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141" name="Google Shape;141;p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42" name="Google Shape;142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>
            <p:ph idx="2" type="pic"/>
          </p:nvPr>
        </p:nvSpPr>
        <p:spPr>
          <a:xfrm>
            <a:off x="9271925" y="4327260"/>
            <a:ext cx="4677000" cy="350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1611888" y="48661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46" name="Google Shape;146;p10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47" name="Google Shape;147;p10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48" name="Google Shape;148;p10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49" name="Google Shape;149;p10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0"/>
            <p:cNvSpPr/>
            <p:nvPr/>
          </p:nvSpPr>
          <p:spPr>
            <a:xfrm>
              <a:off x="109769" y="80055"/>
              <a:ext cx="621522" cy="680950"/>
            </a:xfrm>
            <a:custGeom>
              <a:rect b="b" l="l" r="r" t="t"/>
              <a:pathLst>
                <a:path extrusionOk="0" h="680950" w="621522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1" name="Google Shape;151;p10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9" u="none" cap="none" strike="noStrik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52" name="Google Shape;152;p10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3" name="Google Shape;153;p10"/>
          <p:cNvGrpSpPr/>
          <p:nvPr/>
        </p:nvGrpSpPr>
        <p:grpSpPr>
          <a:xfrm rot="2700000">
            <a:off x="7569488" y="-2119717"/>
            <a:ext cx="2741727" cy="2922839"/>
            <a:chOff x="0" y="-47625"/>
            <a:chExt cx="722100" cy="769800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5" name="Google Shape;155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"/>
          <p:cNvGrpSpPr/>
          <p:nvPr/>
        </p:nvGrpSpPr>
        <p:grpSpPr>
          <a:xfrm rot="2700000">
            <a:off x="14392704" y="8761814"/>
            <a:ext cx="2741727" cy="2922839"/>
            <a:chOff x="0" y="-47625"/>
            <a:chExt cx="722100" cy="769800"/>
          </a:xfrm>
        </p:grpSpPr>
        <p:sp>
          <p:nvSpPr>
            <p:cNvPr id="157" name="Google Shape;157;p1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8" name="Google Shape;158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0"/>
          <p:cNvGrpSpPr/>
          <p:nvPr/>
        </p:nvGrpSpPr>
        <p:grpSpPr>
          <a:xfrm rot="2700000">
            <a:off x="17187731" y="1429787"/>
            <a:ext cx="2741727" cy="2922839"/>
            <a:chOff x="0" y="-47625"/>
            <a:chExt cx="722100" cy="769800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1" name="Google Shape;161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0"/>
          <p:cNvGrpSpPr/>
          <p:nvPr/>
        </p:nvGrpSpPr>
        <p:grpSpPr>
          <a:xfrm rot="2700000">
            <a:off x="5898338" y="9671743"/>
            <a:ext cx="2741727" cy="2922839"/>
            <a:chOff x="0" y="-47625"/>
            <a:chExt cx="722100" cy="769800"/>
          </a:xfrm>
        </p:grpSpPr>
        <p:sp>
          <p:nvSpPr>
            <p:cNvPr id="163" name="Google Shape;163;p1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4" name="Google Shape;164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i="0" sz="7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429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429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»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429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429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429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429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i="0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3738" r="3729" t="0"/>
          <a:stretch/>
        </p:blipFill>
        <p:spPr>
          <a:xfrm>
            <a:off x="3827425" y="-327875"/>
            <a:ext cx="15769057" cy="958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 rot="-2981246">
            <a:off x="2748620" y="-6878145"/>
            <a:ext cx="10685605" cy="34174791"/>
            <a:chOff x="0" y="-47625"/>
            <a:chExt cx="2814333" cy="9000823"/>
          </a:xfrm>
        </p:grpSpPr>
        <p:sp>
          <p:nvSpPr>
            <p:cNvPr id="171" name="Google Shape;171;p11"/>
            <p:cNvSpPr/>
            <p:nvPr/>
          </p:nvSpPr>
          <p:spPr>
            <a:xfrm>
              <a:off x="0" y="0"/>
              <a:ext cx="2814332" cy="8953198"/>
            </a:xfrm>
            <a:custGeom>
              <a:rect b="b" l="l" r="r" t="t"/>
              <a:pathLst>
                <a:path extrusionOk="0" h="8953198" w="2814332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2" name="Google Shape;172;p11"/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1"/>
          <p:cNvGrpSpPr/>
          <p:nvPr/>
        </p:nvGrpSpPr>
        <p:grpSpPr>
          <a:xfrm rot="-2981227">
            <a:off x="14174405" y="-18609474"/>
            <a:ext cx="8493517" cy="34175000"/>
            <a:chOff x="0" y="-47625"/>
            <a:chExt cx="2236976" cy="900082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236976" cy="8953198"/>
            </a:xfrm>
            <a:custGeom>
              <a:rect b="b" l="l" r="r" t="t"/>
              <a:pathLst>
                <a:path extrusionOk="0" h="8953198" w="2236976">
                  <a:moveTo>
                    <a:pt x="0" y="0"/>
                  </a:moveTo>
                  <a:lnTo>
                    <a:pt x="2236976" y="0"/>
                  </a:lnTo>
                  <a:lnTo>
                    <a:pt x="2236976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47625"/>
              <a:ext cx="2236976" cy="9000823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1"/>
          <p:cNvGrpSpPr/>
          <p:nvPr/>
        </p:nvGrpSpPr>
        <p:grpSpPr>
          <a:xfrm rot="2700000">
            <a:off x="12895306" y="7364297"/>
            <a:ext cx="5498471" cy="5679297"/>
            <a:chOff x="0" y="-47625"/>
            <a:chExt cx="1448157" cy="1495782"/>
          </a:xfrm>
        </p:grpSpPr>
        <p:sp>
          <p:nvSpPr>
            <p:cNvPr id="177" name="Google Shape;177;p11"/>
            <p:cNvSpPr/>
            <p:nvPr/>
          </p:nvSpPr>
          <p:spPr>
            <a:xfrm>
              <a:off x="0" y="0"/>
              <a:ext cx="1448157" cy="1448157"/>
            </a:xfrm>
            <a:custGeom>
              <a:rect b="b" l="l" r="r" t="t"/>
              <a:pathLst>
                <a:path extrusionOk="0" h="1448157" w="1448157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78" name="Google Shape;178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1"/>
          <p:cNvGrpSpPr/>
          <p:nvPr/>
        </p:nvGrpSpPr>
        <p:grpSpPr>
          <a:xfrm rot="2700000">
            <a:off x="-5544610" y="-411715"/>
            <a:ext cx="5498471" cy="5679297"/>
            <a:chOff x="0" y="-47625"/>
            <a:chExt cx="1448157" cy="1495782"/>
          </a:xfrm>
        </p:grpSpPr>
        <p:sp>
          <p:nvSpPr>
            <p:cNvPr id="180" name="Google Shape;180;p11"/>
            <p:cNvSpPr/>
            <p:nvPr/>
          </p:nvSpPr>
          <p:spPr>
            <a:xfrm>
              <a:off x="0" y="0"/>
              <a:ext cx="1448157" cy="1448157"/>
            </a:xfrm>
            <a:custGeom>
              <a:rect b="b" l="l" r="r" t="t"/>
              <a:pathLst>
                <a:path extrusionOk="0" h="1448157" w="1448157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1" name="Google Shape;181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 rot="2700000">
            <a:off x="12731408" y="-1897715"/>
            <a:ext cx="2296458" cy="2477284"/>
            <a:chOff x="0" y="-47625"/>
            <a:chExt cx="604828" cy="652453"/>
          </a:xfrm>
        </p:grpSpPr>
        <p:sp>
          <p:nvSpPr>
            <p:cNvPr id="183" name="Google Shape;183;p11"/>
            <p:cNvSpPr/>
            <p:nvPr/>
          </p:nvSpPr>
          <p:spPr>
            <a:xfrm>
              <a:off x="0" y="0"/>
              <a:ext cx="604828" cy="604828"/>
            </a:xfrm>
            <a:custGeom>
              <a:rect b="b" l="l" r="r" t="t"/>
              <a:pathLst>
                <a:path extrusionOk="0" h="604828" w="604828">
                  <a:moveTo>
                    <a:pt x="0" y="0"/>
                  </a:moveTo>
                  <a:lnTo>
                    <a:pt x="604828" y="0"/>
                  </a:lnTo>
                  <a:lnTo>
                    <a:pt x="604828" y="604828"/>
                  </a:lnTo>
                  <a:lnTo>
                    <a:pt x="0" y="604828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4" name="Google Shape;184;p11"/>
            <p:cNvSpPr txBox="1"/>
            <p:nvPr/>
          </p:nvSpPr>
          <p:spPr>
            <a:xfrm>
              <a:off x="0" y="-47625"/>
              <a:ext cx="604828" cy="652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1"/>
          <p:cNvGrpSpPr/>
          <p:nvPr/>
        </p:nvGrpSpPr>
        <p:grpSpPr>
          <a:xfrm rot="2700000">
            <a:off x="9363129" y="9121792"/>
            <a:ext cx="5498471" cy="5679297"/>
            <a:chOff x="0" y="-47625"/>
            <a:chExt cx="1448157" cy="1495782"/>
          </a:xfrm>
        </p:grpSpPr>
        <p:sp>
          <p:nvSpPr>
            <p:cNvPr id="186" name="Google Shape;186;p11"/>
            <p:cNvSpPr/>
            <p:nvPr/>
          </p:nvSpPr>
          <p:spPr>
            <a:xfrm>
              <a:off x="0" y="0"/>
              <a:ext cx="1448157" cy="1448157"/>
            </a:xfrm>
            <a:custGeom>
              <a:rect b="b" l="l" r="r" t="t"/>
              <a:pathLst>
                <a:path extrusionOk="0" h="1448157" w="1448157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87" name="Google Shape;187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1"/>
          <p:cNvGrpSpPr/>
          <p:nvPr/>
        </p:nvGrpSpPr>
        <p:grpSpPr>
          <a:xfrm>
            <a:off x="787475" y="532475"/>
            <a:ext cx="1570808" cy="811622"/>
            <a:chOff x="0" y="-241102"/>
            <a:chExt cx="2094411" cy="1082163"/>
          </a:xfrm>
        </p:grpSpPr>
        <p:grpSp>
          <p:nvGrpSpPr>
            <p:cNvPr id="189" name="Google Shape;189;p11"/>
            <p:cNvGrpSpPr/>
            <p:nvPr/>
          </p:nvGrpSpPr>
          <p:grpSpPr>
            <a:xfrm>
              <a:off x="0" y="-241102"/>
              <a:ext cx="841061" cy="1082163"/>
              <a:chOff x="0" y="-47625"/>
              <a:chExt cx="166135" cy="213760"/>
            </a:xfrm>
          </p:grpSpPr>
          <p:sp>
            <p:nvSpPr>
              <p:cNvPr id="190" name="Google Shape;190;p11"/>
              <p:cNvSpPr/>
              <p:nvPr/>
            </p:nvSpPr>
            <p:spPr>
              <a:xfrm>
                <a:off x="0" y="0"/>
                <a:ext cx="166135" cy="166135"/>
              </a:xfrm>
              <a:custGeom>
                <a:rect b="b" l="l" r="r" t="t"/>
                <a:pathLst>
                  <a:path extrusionOk="0" h="166135" w="166135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91" name="Google Shape;191;p11"/>
              <p:cNvSpPr txBox="1"/>
              <p:nvPr/>
            </p:nvSpPr>
            <p:spPr>
              <a:xfrm>
                <a:off x="0" y="-47625"/>
                <a:ext cx="166135" cy="213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2" name="Google Shape;192;p11"/>
            <p:cNvSpPr txBox="1"/>
            <p:nvPr/>
          </p:nvSpPr>
          <p:spPr>
            <a:xfrm>
              <a:off x="1028211" y="103785"/>
              <a:ext cx="1066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1"/>
          <p:cNvSpPr txBox="1"/>
          <p:nvPr/>
        </p:nvSpPr>
        <p:spPr>
          <a:xfrm>
            <a:off x="787475" y="7845937"/>
            <a:ext cx="71409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6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NASDAQ: </a:t>
            </a:r>
            <a:r>
              <a:rPr lang="en-US" sz="7062">
                <a:solidFill>
                  <a:schemeClr val="accent6"/>
                </a:solidFill>
                <a:latin typeface="Anton"/>
                <a:ea typeface="Anton"/>
                <a:cs typeface="Anton"/>
                <a:sym typeface="Anton"/>
              </a:rPr>
              <a:t>PYPL</a:t>
            </a:r>
            <a:endParaRPr sz="7062">
              <a:solidFill>
                <a:schemeClr val="accent6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94" name="Google Shape;194;p11" title="PayPal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00" y="4495025"/>
            <a:ext cx="9104538" cy="242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12"/>
          <p:cNvGrpSpPr/>
          <p:nvPr/>
        </p:nvGrpSpPr>
        <p:grpSpPr>
          <a:xfrm rot="-2981246">
            <a:off x="2777812" y="-5574711"/>
            <a:ext cx="13218740" cy="34175084"/>
            <a:chOff x="0" y="-47625"/>
            <a:chExt cx="3481500" cy="9000900"/>
          </a:xfrm>
        </p:grpSpPr>
        <p:sp>
          <p:nvSpPr>
            <p:cNvPr id="201" name="Google Shape;201;p12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02" name="Google Shape;202;p12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2"/>
          <p:cNvGrpSpPr/>
          <p:nvPr/>
        </p:nvGrpSpPr>
        <p:grpSpPr>
          <a:xfrm>
            <a:off x="585775" y="1653941"/>
            <a:ext cx="1753143" cy="1934141"/>
            <a:chOff x="0" y="-47625"/>
            <a:chExt cx="461730" cy="509400"/>
          </a:xfrm>
        </p:grpSpPr>
        <p:sp>
          <p:nvSpPr>
            <p:cNvPr id="204" name="Google Shape;204;p12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05" name="Google Shape;205;p12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2"/>
          <p:cNvSpPr txBox="1"/>
          <p:nvPr/>
        </p:nvSpPr>
        <p:spPr>
          <a:xfrm>
            <a:off x="2126325" y="4220625"/>
            <a:ext cx="8691000" cy="4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Company Description</a:t>
            </a:r>
            <a:endParaRPr sz="8700"/>
          </a:p>
        </p:txBody>
      </p:sp>
      <p:sp>
        <p:nvSpPr>
          <p:cNvPr id="207" name="Google Shape;207;p12"/>
          <p:cNvSpPr txBox="1"/>
          <p:nvPr/>
        </p:nvSpPr>
        <p:spPr>
          <a:xfrm>
            <a:off x="784857" y="2286510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grpSp>
        <p:nvGrpSpPr>
          <p:cNvPr id="208" name="Google Shape;208;p12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209" name="Google Shape;209;p12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0" name="Google Shape;210;p12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2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212" name="Google Shape;212;p12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3" name="Google Shape;213;p12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2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215" name="Google Shape;215;p12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16" name="Google Shape;216;p12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2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218" name="Google Shape;218;p12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19" name="Google Shape;219;p12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/>
        </p:nvSpPr>
        <p:spPr>
          <a:xfrm>
            <a:off x="1674525" y="1509750"/>
            <a:ext cx="779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99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Company Description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-616" y="2617939"/>
            <a:ext cx="134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1999592" y="3823704"/>
            <a:ext cx="68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grpSp>
        <p:nvGrpSpPr>
          <p:cNvPr id="227" name="Google Shape;227;p13"/>
          <p:cNvGrpSpPr/>
          <p:nvPr/>
        </p:nvGrpSpPr>
        <p:grpSpPr>
          <a:xfrm rot="2700000">
            <a:off x="15694236" y="8072816"/>
            <a:ext cx="2847034" cy="3027860"/>
            <a:chOff x="0" y="-47625"/>
            <a:chExt cx="749835" cy="797460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29" name="Google Shape;229;p1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3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231" name="Google Shape;231;p1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2" name="Google Shape;232;p1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3"/>
          <p:cNvGrpSpPr/>
          <p:nvPr/>
        </p:nvGrpSpPr>
        <p:grpSpPr>
          <a:xfrm rot="2700000">
            <a:off x="16167435" y="-552107"/>
            <a:ext cx="2741727" cy="2922839"/>
            <a:chOff x="0" y="-47625"/>
            <a:chExt cx="722100" cy="769800"/>
          </a:xfrm>
        </p:grpSpPr>
        <p:sp>
          <p:nvSpPr>
            <p:cNvPr id="234" name="Google Shape;234;p1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5" name="Google Shape;235;p1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6" name="Google Shape;2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4875" y="3620850"/>
            <a:ext cx="8550374" cy="52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13525" y="-567550"/>
            <a:ext cx="5751726" cy="29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>
            <p:ph idx="1" type="body"/>
          </p:nvPr>
        </p:nvSpPr>
        <p:spPr>
          <a:xfrm>
            <a:off x="1855900" y="3181550"/>
            <a:ext cx="7307400" cy="59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80"/>
              <a:buFont typeface="Times New Roman"/>
              <a:buChar char="●"/>
            </a:pPr>
            <a:r>
              <a:rPr lang="en-US" sz="187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PayPal is a global payments platform that lets consumers and merchants send, spend, and accept money online, in-app, and in-store. </a:t>
            </a:r>
            <a:endParaRPr sz="187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80"/>
              <a:buFont typeface="Times New Roman"/>
              <a:buChar char="●"/>
            </a:pPr>
            <a:r>
              <a:rPr lang="en-US" sz="187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brands include PayPal and Venmo, Braintree Complete Payments, PayPal Pay in 4, Zettle, Xoom, and shopping tools from Honey. </a:t>
            </a:r>
            <a:endParaRPr sz="187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80"/>
              <a:buFont typeface="Times New Roman"/>
              <a:buChar char="●"/>
            </a:pPr>
            <a:r>
              <a:rPr lang="en-US" sz="187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PayPal earns mainly transaction fees plus value-added services (fraud/risk, payouts, FX, and merchant tools). </a:t>
            </a:r>
            <a:endParaRPr sz="187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80"/>
              <a:buFont typeface="Times New Roman"/>
              <a:buChar char="●"/>
            </a:pPr>
            <a:r>
              <a:rPr lang="en-US" sz="187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of year-end 2024, PayPal reported $31.8B in revenue and $1.68T in total payment volume across 434M active accounts. </a:t>
            </a:r>
            <a:endParaRPr sz="187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80"/>
              <a:buFont typeface="Times New Roman"/>
              <a:buChar char="●"/>
            </a:pPr>
            <a:r>
              <a:rPr lang="en-US" sz="187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headquarters are located in San Jose, CA. Their CEO is  Alex Chriss who has been in his position since Sept. 27, 2023.</a:t>
            </a:r>
            <a:endParaRPr sz="202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>
              <a:solidFill>
                <a:schemeClr val="lt1"/>
              </a:solidFill>
            </a:endParaRPr>
          </a:p>
        </p:txBody>
      </p:sp>
      <p:grpSp>
        <p:nvGrpSpPr>
          <p:cNvPr id="239" name="Google Shape;239;p13"/>
          <p:cNvGrpSpPr/>
          <p:nvPr/>
        </p:nvGrpSpPr>
        <p:grpSpPr>
          <a:xfrm rot="2700000">
            <a:off x="11540061" y="-1089659"/>
            <a:ext cx="2847034" cy="3027860"/>
            <a:chOff x="0" y="-47625"/>
            <a:chExt cx="749835" cy="797460"/>
          </a:xfrm>
        </p:grpSpPr>
        <p:sp>
          <p:nvSpPr>
            <p:cNvPr id="240" name="Google Shape;240;p13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1" name="Google Shape;241;p1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4"/>
          <p:cNvGrpSpPr/>
          <p:nvPr/>
        </p:nvGrpSpPr>
        <p:grpSpPr>
          <a:xfrm rot="-2981246">
            <a:off x="2777812" y="-5574711"/>
            <a:ext cx="13218740" cy="34175084"/>
            <a:chOff x="0" y="-47625"/>
            <a:chExt cx="3481500" cy="9000900"/>
          </a:xfrm>
        </p:grpSpPr>
        <p:sp>
          <p:nvSpPr>
            <p:cNvPr id="248" name="Google Shape;248;p14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49" name="Google Shape;249;p14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4"/>
          <p:cNvGrpSpPr/>
          <p:nvPr/>
        </p:nvGrpSpPr>
        <p:grpSpPr>
          <a:xfrm>
            <a:off x="585775" y="1653941"/>
            <a:ext cx="1753143" cy="1934141"/>
            <a:chOff x="0" y="-47625"/>
            <a:chExt cx="461730" cy="509400"/>
          </a:xfrm>
        </p:grpSpPr>
        <p:sp>
          <p:nvSpPr>
            <p:cNvPr id="251" name="Google Shape;251;p14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52" name="Google Shape;252;p14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4"/>
          <p:cNvSpPr txBox="1"/>
          <p:nvPr/>
        </p:nvSpPr>
        <p:spPr>
          <a:xfrm>
            <a:off x="1700775" y="4220625"/>
            <a:ext cx="11564100" cy="4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Industry Analysis </a:t>
            </a:r>
            <a:endParaRPr sz="8700"/>
          </a:p>
        </p:txBody>
      </p:sp>
      <p:sp>
        <p:nvSpPr>
          <p:cNvPr id="254" name="Google Shape;254;p14"/>
          <p:cNvSpPr txBox="1"/>
          <p:nvPr/>
        </p:nvSpPr>
        <p:spPr>
          <a:xfrm>
            <a:off x="784857" y="2286510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grpSp>
        <p:nvGrpSpPr>
          <p:cNvPr id="255" name="Google Shape;255;p14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256" name="Google Shape;256;p1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57" name="Google Shape;257;p1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4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259" name="Google Shape;259;p1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60" name="Google Shape;260;p1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4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262" name="Google Shape;262;p1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63" name="Google Shape;263;p1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4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265" name="Google Shape;265;p1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66" name="Google Shape;266;p1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/>
        </p:nvSpPr>
        <p:spPr>
          <a:xfrm>
            <a:off x="1674525" y="1509750"/>
            <a:ext cx="7797000" cy="24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199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Industry Analysis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199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-616" y="2617939"/>
            <a:ext cx="134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1999592" y="3823704"/>
            <a:ext cx="68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grpSp>
        <p:nvGrpSpPr>
          <p:cNvPr id="274" name="Google Shape;274;p15"/>
          <p:cNvGrpSpPr/>
          <p:nvPr/>
        </p:nvGrpSpPr>
        <p:grpSpPr>
          <a:xfrm rot="2700000">
            <a:off x="15694236" y="8072816"/>
            <a:ext cx="2847034" cy="3027860"/>
            <a:chOff x="0" y="-47625"/>
            <a:chExt cx="749835" cy="797460"/>
          </a:xfrm>
        </p:grpSpPr>
        <p:sp>
          <p:nvSpPr>
            <p:cNvPr id="275" name="Google Shape;275;p15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76" name="Google Shape;276;p15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5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278" name="Google Shape;278;p1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79" name="Google Shape;279;p1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5"/>
          <p:cNvGrpSpPr/>
          <p:nvPr/>
        </p:nvGrpSpPr>
        <p:grpSpPr>
          <a:xfrm rot="2700000">
            <a:off x="16167435" y="-552107"/>
            <a:ext cx="2741727" cy="2922839"/>
            <a:chOff x="0" y="-47625"/>
            <a:chExt cx="722100" cy="769800"/>
          </a:xfrm>
        </p:grpSpPr>
        <p:sp>
          <p:nvSpPr>
            <p:cNvPr id="281" name="Google Shape;281;p1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82" name="Google Shape;282;p1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3" name="Google Shape;2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3525" y="-567550"/>
            <a:ext cx="5751726" cy="29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1674525" y="3181500"/>
            <a:ext cx="13932600" cy="710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fintech and digital payments industry is extremely competitive, with PayPal having direct competition from Venmo, Zelle, and others</a:t>
            </a:r>
            <a:endParaRPr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Due to customers having the ability to easily switch between payment platforms competition is fierce</a:t>
            </a:r>
            <a:endParaRPr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Despite this, PayPal benefits from strong brand trust and wide product set, which help it retain users in a crowded market</a:t>
            </a:r>
            <a:endParaRPr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However, rivalry continues to limit margins, and PayPal’s challenge is maintaining profitability while competing against low-cost, high-growth peers across the payments landscape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87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5" name="Google Shape;285;p15"/>
          <p:cNvGrpSpPr/>
          <p:nvPr/>
        </p:nvGrpSpPr>
        <p:grpSpPr>
          <a:xfrm rot="2700000">
            <a:off x="11540061" y="-1089659"/>
            <a:ext cx="2847034" cy="3027860"/>
            <a:chOff x="0" y="-47625"/>
            <a:chExt cx="749835" cy="797460"/>
          </a:xfrm>
        </p:grpSpPr>
        <p:sp>
          <p:nvSpPr>
            <p:cNvPr id="286" name="Google Shape;286;p15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87" name="Google Shape;287;p15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16"/>
          <p:cNvGrpSpPr/>
          <p:nvPr/>
        </p:nvGrpSpPr>
        <p:grpSpPr>
          <a:xfrm rot="-2981246">
            <a:off x="2777812" y="-5574711"/>
            <a:ext cx="13218740" cy="34175084"/>
            <a:chOff x="0" y="-47625"/>
            <a:chExt cx="3481500" cy="9000900"/>
          </a:xfrm>
        </p:grpSpPr>
        <p:sp>
          <p:nvSpPr>
            <p:cNvPr id="294" name="Google Shape;294;p16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95" name="Google Shape;295;p16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6"/>
          <p:cNvGrpSpPr/>
          <p:nvPr/>
        </p:nvGrpSpPr>
        <p:grpSpPr>
          <a:xfrm>
            <a:off x="585775" y="1653941"/>
            <a:ext cx="1753143" cy="1934141"/>
            <a:chOff x="0" y="-47625"/>
            <a:chExt cx="461730" cy="509400"/>
          </a:xfrm>
        </p:grpSpPr>
        <p:sp>
          <p:nvSpPr>
            <p:cNvPr id="297" name="Google Shape;297;p16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98" name="Google Shape;298;p16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6"/>
          <p:cNvSpPr txBox="1"/>
          <p:nvPr/>
        </p:nvSpPr>
        <p:spPr>
          <a:xfrm>
            <a:off x="2126325" y="4220625"/>
            <a:ext cx="8691000" cy="4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Competitive Analysis</a:t>
            </a:r>
            <a:endParaRPr sz="14299"/>
          </a:p>
        </p:txBody>
      </p:sp>
      <p:sp>
        <p:nvSpPr>
          <p:cNvPr id="300" name="Google Shape;300;p16"/>
          <p:cNvSpPr txBox="1"/>
          <p:nvPr/>
        </p:nvSpPr>
        <p:spPr>
          <a:xfrm>
            <a:off x="784857" y="2286510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grpSp>
        <p:nvGrpSpPr>
          <p:cNvPr id="301" name="Google Shape;301;p16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302" name="Google Shape;302;p16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03" name="Google Shape;303;p16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305" name="Google Shape;305;p16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06" name="Google Shape;306;p16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6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308" name="Google Shape;308;p1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09" name="Google Shape;309;p1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6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311" name="Google Shape;311;p1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12" name="Google Shape;312;p1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7"/>
          <p:cNvGrpSpPr/>
          <p:nvPr/>
        </p:nvGrpSpPr>
        <p:grpSpPr>
          <a:xfrm rot="2700000">
            <a:off x="5580805" y="-1461674"/>
            <a:ext cx="2017192" cy="2082107"/>
            <a:chOff x="0" y="-47625"/>
            <a:chExt cx="531277" cy="548374"/>
          </a:xfrm>
        </p:grpSpPr>
        <p:sp>
          <p:nvSpPr>
            <p:cNvPr id="318" name="Google Shape;318;p17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19" name="Google Shape;319;p17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7"/>
          <p:cNvGrpSpPr/>
          <p:nvPr/>
        </p:nvGrpSpPr>
        <p:grpSpPr>
          <a:xfrm rot="2700000">
            <a:off x="17343336" y="2054739"/>
            <a:ext cx="2017192" cy="2082107"/>
            <a:chOff x="0" y="-47625"/>
            <a:chExt cx="531277" cy="548374"/>
          </a:xfrm>
        </p:grpSpPr>
        <p:sp>
          <p:nvSpPr>
            <p:cNvPr id="321" name="Google Shape;321;p17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2" name="Google Shape;322;p17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17"/>
          <p:cNvGrpSpPr/>
          <p:nvPr/>
        </p:nvGrpSpPr>
        <p:grpSpPr>
          <a:xfrm rot="2700000">
            <a:off x="856950" y="9001323"/>
            <a:ext cx="2741636" cy="2922462"/>
            <a:chOff x="0" y="-47625"/>
            <a:chExt cx="722077" cy="769702"/>
          </a:xfrm>
        </p:grpSpPr>
        <p:sp>
          <p:nvSpPr>
            <p:cNvPr id="324" name="Google Shape;324;p1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5" name="Google Shape;325;p17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7"/>
          <p:cNvGrpSpPr/>
          <p:nvPr/>
        </p:nvGrpSpPr>
        <p:grpSpPr>
          <a:xfrm rot="2700000">
            <a:off x="2121914" y="9671766"/>
            <a:ext cx="2741636" cy="2922462"/>
            <a:chOff x="0" y="-47625"/>
            <a:chExt cx="722077" cy="769702"/>
          </a:xfrm>
        </p:grpSpPr>
        <p:sp>
          <p:nvSpPr>
            <p:cNvPr id="327" name="Google Shape;327;p1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28" name="Google Shape;328;p17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17"/>
          <p:cNvSpPr txBox="1"/>
          <p:nvPr>
            <p:ph idx="1" type="body"/>
          </p:nvPr>
        </p:nvSpPr>
        <p:spPr>
          <a:xfrm>
            <a:off x="4338200" y="4573150"/>
            <a:ext cx="47169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Rivals consist of </a:t>
            </a:r>
            <a:r>
              <a:rPr lang="en-US" sz="2100">
                <a:solidFill>
                  <a:schemeClr val="lt1"/>
                </a:solidFill>
              </a:rPr>
              <a:t>players</a:t>
            </a:r>
            <a:r>
              <a:rPr lang="en-US" sz="2100">
                <a:solidFill>
                  <a:schemeClr val="lt1"/>
                </a:solidFill>
              </a:rPr>
              <a:t> within the fintech industry; BNPL (buy now, pay later) services</a:t>
            </a:r>
            <a:endParaRPr sz="2100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Stripe, Square, Apple/Google Pay</a:t>
            </a:r>
            <a:endParaRPr sz="2100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Banks and credit card providers as payment services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Rivalry driven by low cost for switching services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Threat of declining </a:t>
            </a:r>
            <a:r>
              <a:rPr lang="en-US" sz="2100">
                <a:solidFill>
                  <a:schemeClr val="lt1"/>
                </a:solidFill>
              </a:rPr>
              <a:t>market</a:t>
            </a:r>
            <a:r>
              <a:rPr lang="en-US" sz="2100">
                <a:solidFill>
                  <a:schemeClr val="lt1"/>
                </a:solidFill>
              </a:rPr>
              <a:t> share → stays relevant </a:t>
            </a:r>
            <a:r>
              <a:rPr lang="en-US" sz="2100">
                <a:solidFill>
                  <a:schemeClr val="lt1"/>
                </a:solidFill>
              </a:rPr>
              <a:t>through</a:t>
            </a:r>
            <a:r>
              <a:rPr lang="en-US" sz="2100">
                <a:solidFill>
                  <a:schemeClr val="lt1"/>
                </a:solidFill>
              </a:rPr>
              <a:t> R&amp;D and brand recognition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Overall competition is very high </a:t>
            </a:r>
            <a:r>
              <a:rPr lang="en-US" sz="2100">
                <a:solidFill>
                  <a:schemeClr val="lt1"/>
                </a:solidFill>
              </a:rPr>
              <a:t>within</a:t>
            </a:r>
            <a:r>
              <a:rPr lang="en-US" sz="2100">
                <a:solidFill>
                  <a:schemeClr val="lt1"/>
                </a:solidFill>
              </a:rPr>
              <a:t> industry and sector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30" name="Google Shape;330;p17"/>
          <p:cNvSpPr txBox="1"/>
          <p:nvPr>
            <p:ph idx="2" type="body"/>
          </p:nvPr>
        </p:nvSpPr>
        <p:spPr>
          <a:xfrm>
            <a:off x="9232907" y="4573150"/>
            <a:ext cx="47169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Highly regulated sector (government regulation) → high barriers to entry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Expensive technological infrastructure and security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Bigger </a:t>
            </a:r>
            <a:r>
              <a:rPr lang="en-US" sz="2100">
                <a:solidFill>
                  <a:schemeClr val="lt1"/>
                </a:solidFill>
              </a:rPr>
              <a:t>companies</a:t>
            </a:r>
            <a:r>
              <a:rPr lang="en-US" sz="2100">
                <a:solidFill>
                  <a:schemeClr val="lt1"/>
                </a:solidFill>
              </a:rPr>
              <a:t> have foothold on industry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Overall low-mid threat of new entrants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31" name="Google Shape;331;p17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Competitive Analysis (Porter’s 5)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4284350" y="3891700"/>
            <a:ext cx="4824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Competitive Rivals</a:t>
            </a:r>
            <a:endParaRPr sz="2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9179050" y="3891700"/>
            <a:ext cx="4824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Threat of New Entrants</a:t>
            </a:r>
            <a:endParaRPr sz="2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34" name="Google Shape;334;p17"/>
          <p:cNvPicPr preferRelativeResize="0"/>
          <p:nvPr/>
        </p:nvPicPr>
        <p:blipFill rotWithShape="1">
          <a:blip r:embed="rId3">
            <a:alphaModFix/>
          </a:blip>
          <a:srcRect b="14913" l="27868" r="27868" t="18420"/>
          <a:stretch/>
        </p:blipFill>
        <p:spPr>
          <a:xfrm>
            <a:off x="1269750" y="116975"/>
            <a:ext cx="1353974" cy="152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8"/>
          <p:cNvGrpSpPr/>
          <p:nvPr/>
        </p:nvGrpSpPr>
        <p:grpSpPr>
          <a:xfrm rot="2700000">
            <a:off x="5580756" y="-1461657"/>
            <a:ext cx="2017283" cy="2082209"/>
            <a:chOff x="0" y="-47625"/>
            <a:chExt cx="531300" cy="548400"/>
          </a:xfrm>
        </p:grpSpPr>
        <p:sp>
          <p:nvSpPr>
            <p:cNvPr id="340" name="Google Shape;340;p18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41" name="Google Shape;341;p1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8"/>
          <p:cNvGrpSpPr/>
          <p:nvPr/>
        </p:nvGrpSpPr>
        <p:grpSpPr>
          <a:xfrm rot="2700000">
            <a:off x="17343287" y="2054756"/>
            <a:ext cx="2017283" cy="2082209"/>
            <a:chOff x="0" y="-47625"/>
            <a:chExt cx="531300" cy="548400"/>
          </a:xfrm>
        </p:grpSpPr>
        <p:sp>
          <p:nvSpPr>
            <p:cNvPr id="343" name="Google Shape;343;p18"/>
            <p:cNvSpPr/>
            <p:nvPr/>
          </p:nvSpPr>
          <p:spPr>
            <a:xfrm>
              <a:off x="0" y="0"/>
              <a:ext cx="531277" cy="500749"/>
            </a:xfrm>
            <a:custGeom>
              <a:rect b="b" l="l" r="r" t="t"/>
              <a:pathLst>
                <a:path extrusionOk="0" h="500749" w="531277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44" name="Google Shape;344;p1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8"/>
          <p:cNvGrpSpPr/>
          <p:nvPr/>
        </p:nvGrpSpPr>
        <p:grpSpPr>
          <a:xfrm rot="2700000">
            <a:off x="631853" y="9001300"/>
            <a:ext cx="2741727" cy="2922839"/>
            <a:chOff x="0" y="-47625"/>
            <a:chExt cx="722100" cy="769800"/>
          </a:xfrm>
        </p:grpSpPr>
        <p:sp>
          <p:nvSpPr>
            <p:cNvPr id="346" name="Google Shape;346;p18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47" name="Google Shape;347;p1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8"/>
          <p:cNvGrpSpPr/>
          <p:nvPr/>
        </p:nvGrpSpPr>
        <p:grpSpPr>
          <a:xfrm rot="2700000">
            <a:off x="2121767" y="9671743"/>
            <a:ext cx="2741727" cy="2922839"/>
            <a:chOff x="0" y="-47625"/>
            <a:chExt cx="722100" cy="769800"/>
          </a:xfrm>
        </p:grpSpPr>
        <p:sp>
          <p:nvSpPr>
            <p:cNvPr id="349" name="Google Shape;349;p18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50" name="Google Shape;350;p1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8"/>
          <p:cNvSpPr txBox="1"/>
          <p:nvPr>
            <p:ph idx="1" type="body"/>
          </p:nvPr>
        </p:nvSpPr>
        <p:spPr>
          <a:xfrm>
            <a:off x="1681400" y="4573013"/>
            <a:ext cx="47169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Buyers: users of PayPal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Many alternatives to PayPal (Stripe, Square, credit cards, Apple/Google Pay)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Low costs for buyers to switch services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Strong competition for PayPal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Overall high bargaining power for buyers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52" name="Google Shape;352;p18"/>
          <p:cNvSpPr txBox="1"/>
          <p:nvPr>
            <p:ph idx="2" type="body"/>
          </p:nvPr>
        </p:nvSpPr>
        <p:spPr>
          <a:xfrm>
            <a:off x="6576107" y="4573013"/>
            <a:ext cx="47169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Suppliers</a:t>
            </a:r>
            <a:r>
              <a:rPr lang="en-US" sz="2100">
                <a:solidFill>
                  <a:schemeClr val="lt1"/>
                </a:solidFill>
              </a:rPr>
              <a:t> include credit card providers (Visa, AmEx, Mastercard)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Brand recognition puts PayPal in good standing with suppliers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Safety and fraud risk suppliers = critical; high power over PayPal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Overall moderate bargaining </a:t>
            </a:r>
            <a:r>
              <a:rPr lang="en-US" sz="2100">
                <a:solidFill>
                  <a:schemeClr val="lt1"/>
                </a:solidFill>
              </a:rPr>
              <a:t>power</a:t>
            </a:r>
            <a:r>
              <a:rPr lang="en-US" sz="2100">
                <a:solidFill>
                  <a:schemeClr val="lt1"/>
                </a:solidFill>
              </a:rPr>
              <a:t> for suppliers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53" name="Google Shape;353;p18"/>
          <p:cNvSpPr txBox="1"/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Competitive</a:t>
            </a:r>
            <a:r>
              <a:rPr lang="en-US">
                <a:solidFill>
                  <a:schemeClr val="lt1"/>
                </a:solidFill>
              </a:rPr>
              <a:t> Analysis (Porter’s 5)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1627550" y="3891563"/>
            <a:ext cx="4824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Bargaining</a:t>
            </a: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 Power of Buyers</a:t>
            </a:r>
            <a:endParaRPr sz="2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6522250" y="3891563"/>
            <a:ext cx="4824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Bargaining Power of Suppliers</a:t>
            </a:r>
            <a:endParaRPr sz="2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56" name="Google Shape;356;p18"/>
          <p:cNvPicPr preferRelativeResize="0"/>
          <p:nvPr/>
        </p:nvPicPr>
        <p:blipFill rotWithShape="1">
          <a:blip r:embed="rId3">
            <a:alphaModFix/>
          </a:blip>
          <a:srcRect b="14913" l="27868" r="27868" t="18420"/>
          <a:stretch/>
        </p:blipFill>
        <p:spPr>
          <a:xfrm>
            <a:off x="1269750" y="116975"/>
            <a:ext cx="1353974" cy="152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8"/>
          <p:cNvSpPr txBox="1"/>
          <p:nvPr>
            <p:ph idx="2" type="body"/>
          </p:nvPr>
        </p:nvSpPr>
        <p:spPr>
          <a:xfrm>
            <a:off x="11626857" y="4573013"/>
            <a:ext cx="47169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Aligns with bargaining power of buyers</a:t>
            </a:r>
            <a:endParaRPr sz="2100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Many alternatives available; low switching costs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New alternatives within industry (crypto)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Growing competition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Overall high (and growing) threat of </a:t>
            </a:r>
            <a:r>
              <a:rPr lang="en-US" sz="2100">
                <a:solidFill>
                  <a:schemeClr val="lt1"/>
                </a:solidFill>
              </a:rPr>
              <a:t>substitutes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11573000" y="3891563"/>
            <a:ext cx="4824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Threat of Substitutes</a:t>
            </a:r>
            <a:endParaRPr sz="2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9"/>
          <p:cNvGrpSpPr/>
          <p:nvPr/>
        </p:nvGrpSpPr>
        <p:grpSpPr>
          <a:xfrm rot="-2981246">
            <a:off x="2777812" y="-5574711"/>
            <a:ext cx="13218740" cy="34175084"/>
            <a:chOff x="0" y="-47625"/>
            <a:chExt cx="3481500" cy="9000900"/>
          </a:xfrm>
        </p:grpSpPr>
        <p:sp>
          <p:nvSpPr>
            <p:cNvPr id="365" name="Google Shape;365;p19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366" name="Google Shape;366;p19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19"/>
          <p:cNvGrpSpPr/>
          <p:nvPr/>
        </p:nvGrpSpPr>
        <p:grpSpPr>
          <a:xfrm>
            <a:off x="585775" y="1653941"/>
            <a:ext cx="1753143" cy="1934141"/>
            <a:chOff x="0" y="-47625"/>
            <a:chExt cx="461730" cy="509400"/>
          </a:xfrm>
        </p:grpSpPr>
        <p:sp>
          <p:nvSpPr>
            <p:cNvPr id="368" name="Google Shape;368;p19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9" name="Google Shape;369;p19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9"/>
          <p:cNvSpPr txBox="1"/>
          <p:nvPr/>
        </p:nvSpPr>
        <p:spPr>
          <a:xfrm>
            <a:off x="2126330" y="4220633"/>
            <a:ext cx="8272200" cy="4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Risks and Mitigants</a:t>
            </a:r>
            <a:endParaRPr sz="8700"/>
          </a:p>
        </p:txBody>
      </p:sp>
      <p:sp>
        <p:nvSpPr>
          <p:cNvPr id="371" name="Google Shape;371;p19"/>
          <p:cNvSpPr txBox="1"/>
          <p:nvPr/>
        </p:nvSpPr>
        <p:spPr>
          <a:xfrm>
            <a:off x="784857" y="2286510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/>
          </a:p>
        </p:txBody>
      </p:sp>
      <p:grpSp>
        <p:nvGrpSpPr>
          <p:cNvPr id="372" name="Google Shape;372;p19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373" name="Google Shape;373;p19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74" name="Google Shape;374;p19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9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376" name="Google Shape;376;p19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77" name="Google Shape;377;p19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19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379" name="Google Shape;379;p1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80" name="Google Shape;380;p1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9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382" name="Google Shape;382;p1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83" name="Google Shape;383;p1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 txBox="1"/>
          <p:nvPr/>
        </p:nvSpPr>
        <p:spPr>
          <a:xfrm>
            <a:off x="787475" y="1792425"/>
            <a:ext cx="875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Competitive Pressures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901000" y="3429001"/>
            <a:ext cx="8752200" cy="5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Risk: Competitive Landscape</a:t>
            </a:r>
            <a:endParaRPr b="1"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1A38"/>
              </a:buClr>
              <a:buSzPts val="2700"/>
              <a:buFont typeface="Montserrat"/>
              <a:buChar char="●"/>
            </a:pPr>
            <a:r>
              <a:rPr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Increasing competition from Apple Pay, Google Pay, Stripe, and Block</a:t>
            </a:r>
            <a:endParaRPr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1A38"/>
              </a:buClr>
              <a:buSzPts val="2700"/>
              <a:buFont typeface="Montserrat"/>
              <a:buChar char="●"/>
            </a:pPr>
            <a:r>
              <a:rPr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Mobile wallets gaining share, reducing PayPal’s role in checkout</a:t>
            </a:r>
            <a:endParaRPr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Mitigant: Platform Improvements</a:t>
            </a:r>
            <a:endParaRPr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1A38"/>
              </a:buClr>
              <a:buSzPts val="2700"/>
              <a:buFont typeface="Montserrat"/>
              <a:buChar char="●"/>
            </a:pPr>
            <a:r>
              <a:rPr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Consolidating Braintree, Hyperwallet, and merchant tools into a unified platform</a:t>
            </a:r>
            <a:endParaRPr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F1A38"/>
              </a:buClr>
              <a:buSzPts val="2700"/>
              <a:buFont typeface="Montserrat"/>
              <a:buChar char="●"/>
            </a:pPr>
            <a:r>
              <a:rPr lang="en-US" sz="27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Launch of Fastlane and upgraded guest checkout to reduce friction</a:t>
            </a:r>
            <a:endParaRPr sz="27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90" name="Google Shape;390;p20"/>
          <p:cNvGrpSpPr/>
          <p:nvPr/>
        </p:nvGrpSpPr>
        <p:grpSpPr>
          <a:xfrm rot="2700000">
            <a:off x="631743" y="9088639"/>
            <a:ext cx="2741636" cy="2922462"/>
            <a:chOff x="0" y="-47625"/>
            <a:chExt cx="722077" cy="769702"/>
          </a:xfrm>
        </p:grpSpPr>
        <p:sp>
          <p:nvSpPr>
            <p:cNvPr id="391" name="Google Shape;391;p2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92" name="Google Shape;392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0"/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394" name="Google Shape;394;p2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95" name="Google Shape;395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/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397" name="Google Shape;397;p20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98" name="Google Shape;398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9" name="Google Shape;399;p20"/>
          <p:cNvPicPr preferRelativeResize="0"/>
          <p:nvPr/>
        </p:nvPicPr>
        <p:blipFill rotWithShape="1">
          <a:blip r:embed="rId3">
            <a:alphaModFix/>
          </a:blip>
          <a:srcRect b="23442" l="45878" r="0" t="0"/>
          <a:stretch/>
        </p:blipFill>
        <p:spPr>
          <a:xfrm>
            <a:off x="9041850" y="1792425"/>
            <a:ext cx="9246150" cy="713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1"/>
          <p:cNvPicPr preferRelativeResize="0"/>
          <p:nvPr/>
        </p:nvPicPr>
        <p:blipFill rotWithShape="1">
          <a:blip r:embed="rId3">
            <a:alphaModFix/>
          </a:blip>
          <a:srcRect b="0" l="37876" r="0" t="0"/>
          <a:stretch/>
        </p:blipFill>
        <p:spPr>
          <a:xfrm>
            <a:off x="-167851" y="-176750"/>
            <a:ext cx="9585424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21"/>
          <p:cNvGrpSpPr/>
          <p:nvPr/>
        </p:nvGrpSpPr>
        <p:grpSpPr>
          <a:xfrm rot="1298099">
            <a:off x="8910943" y="-13958276"/>
            <a:ext cx="13492776" cy="34175000"/>
            <a:chOff x="0" y="-47625"/>
            <a:chExt cx="3553653" cy="9000823"/>
          </a:xfrm>
        </p:grpSpPr>
        <p:sp>
          <p:nvSpPr>
            <p:cNvPr id="406" name="Google Shape;406;p21"/>
            <p:cNvSpPr/>
            <p:nvPr/>
          </p:nvSpPr>
          <p:spPr>
            <a:xfrm>
              <a:off x="0" y="0"/>
              <a:ext cx="3553653" cy="8953198"/>
            </a:xfrm>
            <a:custGeom>
              <a:rect b="b" l="l" r="r" t="t"/>
              <a:pathLst>
                <a:path extrusionOk="0" h="8953198" w="3553653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07" name="Google Shape;407;p21"/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21"/>
          <p:cNvGrpSpPr/>
          <p:nvPr/>
        </p:nvGrpSpPr>
        <p:grpSpPr>
          <a:xfrm rot="2700000">
            <a:off x="14389554" y="-1452719"/>
            <a:ext cx="2596748" cy="2777574"/>
            <a:chOff x="0" y="-47625"/>
            <a:chExt cx="683917" cy="731542"/>
          </a:xfrm>
        </p:grpSpPr>
        <p:sp>
          <p:nvSpPr>
            <p:cNvPr id="409" name="Google Shape;409;p21"/>
            <p:cNvSpPr/>
            <p:nvPr/>
          </p:nvSpPr>
          <p:spPr>
            <a:xfrm>
              <a:off x="0" y="0"/>
              <a:ext cx="683917" cy="683917"/>
            </a:xfrm>
            <a:custGeom>
              <a:rect b="b" l="l" r="r" t="t"/>
              <a:pathLst>
                <a:path extrusionOk="0" h="683917" w="683917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10" name="Google Shape;410;p21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1"/>
          <p:cNvGrpSpPr/>
          <p:nvPr/>
        </p:nvGrpSpPr>
        <p:grpSpPr>
          <a:xfrm rot="2700000">
            <a:off x="12741022" y="-2190730"/>
            <a:ext cx="2741636" cy="2922462"/>
            <a:chOff x="0" y="-47625"/>
            <a:chExt cx="722077" cy="769702"/>
          </a:xfrm>
        </p:grpSpPr>
        <p:sp>
          <p:nvSpPr>
            <p:cNvPr id="412" name="Google Shape;412;p21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13" name="Google Shape;413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1"/>
          <p:cNvSpPr txBox="1"/>
          <p:nvPr/>
        </p:nvSpPr>
        <p:spPr>
          <a:xfrm>
            <a:off x="9010750" y="3429000"/>
            <a:ext cx="958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Macroeconomic Sensitivity </a:t>
            </a:r>
            <a:endParaRPr sz="1000"/>
          </a:p>
        </p:txBody>
      </p:sp>
      <p:sp>
        <p:nvSpPr>
          <p:cNvPr id="415" name="Google Shape;415;p21"/>
          <p:cNvSpPr txBox="1"/>
          <p:nvPr/>
        </p:nvSpPr>
        <p:spPr>
          <a:xfrm>
            <a:off x="9010750" y="5081450"/>
            <a:ext cx="89304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Risk: Sensitive Macroeconomic 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Slower consumer spending and inflation can reduce PayPal’s transaction volume.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Mitigant: Financial &amp; Operational Resilience: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PayPal benefits from higher interest rates through increased earnings on customer balances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company is tightening costs and improving operational efficiency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22"/>
          <p:cNvGrpSpPr/>
          <p:nvPr/>
        </p:nvGrpSpPr>
        <p:grpSpPr>
          <a:xfrm rot="-2981246">
            <a:off x="2777812" y="-5574711"/>
            <a:ext cx="13218740" cy="34175084"/>
            <a:chOff x="0" y="-47625"/>
            <a:chExt cx="3481500" cy="9000900"/>
          </a:xfrm>
        </p:grpSpPr>
        <p:sp>
          <p:nvSpPr>
            <p:cNvPr id="422" name="Google Shape;422;p22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3" name="Google Shape;423;p22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2"/>
          <p:cNvGrpSpPr/>
          <p:nvPr/>
        </p:nvGrpSpPr>
        <p:grpSpPr>
          <a:xfrm>
            <a:off x="585775" y="1653941"/>
            <a:ext cx="1753143" cy="1934141"/>
            <a:chOff x="0" y="-47625"/>
            <a:chExt cx="461730" cy="509400"/>
          </a:xfrm>
        </p:grpSpPr>
        <p:sp>
          <p:nvSpPr>
            <p:cNvPr id="425" name="Google Shape;425;p22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26" name="Google Shape;426;p22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7" name="Google Shape;427;p22"/>
          <p:cNvSpPr txBox="1"/>
          <p:nvPr/>
        </p:nvSpPr>
        <p:spPr>
          <a:xfrm>
            <a:off x="2126325" y="4220625"/>
            <a:ext cx="8691000" cy="4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Investment</a:t>
            </a:r>
            <a:endParaRPr sz="142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Thesis</a:t>
            </a:r>
            <a:endParaRPr sz="142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784857" y="2286510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grpSp>
        <p:nvGrpSpPr>
          <p:cNvPr id="429" name="Google Shape;429;p22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430" name="Google Shape;430;p22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31" name="Google Shape;431;p22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22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433" name="Google Shape;433;p22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34" name="Google Shape;434;p22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22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436" name="Google Shape;436;p22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7" name="Google Shape;437;p22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22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439" name="Google Shape;439;p22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40" name="Google Shape;440;p22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3"/>
          <p:cNvGrpSpPr/>
          <p:nvPr/>
        </p:nvGrpSpPr>
        <p:grpSpPr>
          <a:xfrm rot="-5400000">
            <a:off x="3658008" y="-18180664"/>
            <a:ext cx="14275964" cy="34175517"/>
            <a:chOff x="0" y="-47625"/>
            <a:chExt cx="3759900" cy="9000900"/>
          </a:xfrm>
        </p:grpSpPr>
        <p:sp>
          <p:nvSpPr>
            <p:cNvPr id="446" name="Google Shape;446;p23"/>
            <p:cNvSpPr/>
            <p:nvPr/>
          </p:nvSpPr>
          <p:spPr>
            <a:xfrm>
              <a:off x="0" y="0"/>
              <a:ext cx="3759881" cy="8953198"/>
            </a:xfrm>
            <a:custGeom>
              <a:rect b="b" l="l" r="r" t="t"/>
              <a:pathLst>
                <a:path extrusionOk="0" h="8953198" w="3759881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47" name="Google Shape;447;p23"/>
            <p:cNvSpPr txBox="1"/>
            <p:nvPr/>
          </p:nvSpPr>
          <p:spPr>
            <a:xfrm>
              <a:off x="0" y="-47625"/>
              <a:ext cx="37599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8" name="Google Shape;448;p23"/>
          <p:cNvGrpSpPr/>
          <p:nvPr/>
        </p:nvGrpSpPr>
        <p:grpSpPr>
          <a:xfrm>
            <a:off x="787475" y="4029705"/>
            <a:ext cx="2811225" cy="2991657"/>
            <a:chOff x="0" y="-47625"/>
            <a:chExt cx="740400" cy="787921"/>
          </a:xfrm>
        </p:grpSpPr>
        <p:sp>
          <p:nvSpPr>
            <p:cNvPr id="449" name="Google Shape;449;p23"/>
            <p:cNvSpPr/>
            <p:nvPr/>
          </p:nvSpPr>
          <p:spPr>
            <a:xfrm>
              <a:off x="0" y="0"/>
              <a:ext cx="740296" cy="740296"/>
            </a:xfrm>
            <a:custGeom>
              <a:rect b="b" l="l" r="r" t="t"/>
              <a:pathLst>
                <a:path extrusionOk="0" h="740296" w="740296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0" name="Google Shape;450;p23"/>
            <p:cNvSpPr txBox="1"/>
            <p:nvPr/>
          </p:nvSpPr>
          <p:spPr>
            <a:xfrm>
              <a:off x="0" y="-47625"/>
              <a:ext cx="7404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23"/>
          <p:cNvGrpSpPr/>
          <p:nvPr/>
        </p:nvGrpSpPr>
        <p:grpSpPr>
          <a:xfrm>
            <a:off x="7129492" y="4029705"/>
            <a:ext cx="2811225" cy="2991657"/>
            <a:chOff x="0" y="-47625"/>
            <a:chExt cx="740400" cy="787921"/>
          </a:xfrm>
        </p:grpSpPr>
        <p:sp>
          <p:nvSpPr>
            <p:cNvPr id="452" name="Google Shape;452;p23"/>
            <p:cNvSpPr/>
            <p:nvPr/>
          </p:nvSpPr>
          <p:spPr>
            <a:xfrm>
              <a:off x="0" y="0"/>
              <a:ext cx="740296" cy="740296"/>
            </a:xfrm>
            <a:custGeom>
              <a:rect b="b" l="l" r="r" t="t"/>
              <a:pathLst>
                <a:path extrusionOk="0" h="740296" w="740296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3" name="Google Shape;453;p23"/>
            <p:cNvSpPr txBox="1"/>
            <p:nvPr/>
          </p:nvSpPr>
          <p:spPr>
            <a:xfrm>
              <a:off x="0" y="-47625"/>
              <a:ext cx="7404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p23"/>
          <p:cNvGrpSpPr/>
          <p:nvPr/>
        </p:nvGrpSpPr>
        <p:grpSpPr>
          <a:xfrm>
            <a:off x="13471509" y="4029705"/>
            <a:ext cx="2811225" cy="2991657"/>
            <a:chOff x="0" y="-47625"/>
            <a:chExt cx="740400" cy="787921"/>
          </a:xfrm>
        </p:grpSpPr>
        <p:sp>
          <p:nvSpPr>
            <p:cNvPr id="455" name="Google Shape;455;p23"/>
            <p:cNvSpPr/>
            <p:nvPr/>
          </p:nvSpPr>
          <p:spPr>
            <a:xfrm>
              <a:off x="0" y="0"/>
              <a:ext cx="740296" cy="740296"/>
            </a:xfrm>
            <a:custGeom>
              <a:rect b="b" l="l" r="r" t="t"/>
              <a:pathLst>
                <a:path extrusionOk="0" h="740296" w="740296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6" name="Google Shape;456;p23"/>
            <p:cNvSpPr txBox="1"/>
            <p:nvPr/>
          </p:nvSpPr>
          <p:spPr>
            <a:xfrm>
              <a:off x="0" y="-47625"/>
              <a:ext cx="7404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23"/>
          <p:cNvGrpSpPr/>
          <p:nvPr/>
        </p:nvGrpSpPr>
        <p:grpSpPr>
          <a:xfrm rot="2700000">
            <a:off x="11631253" y="-1522967"/>
            <a:ext cx="2741727" cy="2922839"/>
            <a:chOff x="0" y="-47625"/>
            <a:chExt cx="722100" cy="769800"/>
          </a:xfrm>
        </p:grpSpPr>
        <p:sp>
          <p:nvSpPr>
            <p:cNvPr id="458" name="Google Shape;458;p2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59" name="Google Shape;459;p2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23"/>
          <p:cNvSpPr txBox="1"/>
          <p:nvPr/>
        </p:nvSpPr>
        <p:spPr>
          <a:xfrm>
            <a:off x="787475" y="7621420"/>
            <a:ext cx="22920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68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#</a:t>
            </a:r>
            <a:r>
              <a:rPr b="0" i="0" lang="en-US" sz="5068" u="none" cap="none" strike="noStrik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 sz="1900"/>
          </a:p>
        </p:txBody>
      </p:sp>
      <p:sp>
        <p:nvSpPr>
          <p:cNvPr id="461" name="Google Shape;461;p23"/>
          <p:cNvSpPr txBox="1"/>
          <p:nvPr/>
        </p:nvSpPr>
        <p:spPr>
          <a:xfrm>
            <a:off x="7129492" y="7621420"/>
            <a:ext cx="22920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68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#2</a:t>
            </a:r>
            <a:endParaRPr sz="1900"/>
          </a:p>
        </p:txBody>
      </p:sp>
      <p:sp>
        <p:nvSpPr>
          <p:cNvPr id="462" name="Google Shape;462;p23"/>
          <p:cNvSpPr txBox="1"/>
          <p:nvPr/>
        </p:nvSpPr>
        <p:spPr>
          <a:xfrm>
            <a:off x="13468395" y="7621420"/>
            <a:ext cx="22920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68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#3</a:t>
            </a:r>
            <a:endParaRPr sz="1900"/>
          </a:p>
        </p:txBody>
      </p:sp>
      <p:sp>
        <p:nvSpPr>
          <p:cNvPr id="463" name="Google Shape;463;p23"/>
          <p:cNvSpPr txBox="1"/>
          <p:nvPr/>
        </p:nvSpPr>
        <p:spPr>
          <a:xfrm>
            <a:off x="787475" y="8529732"/>
            <a:ext cx="36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Profit Growth Driven by Efficiency</a:t>
            </a:r>
            <a:endParaRPr sz="26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7129492" y="8529732"/>
            <a:ext cx="36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Strong, More Connected Platform</a:t>
            </a:r>
            <a:endParaRPr sz="26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13468395" y="8529732"/>
            <a:ext cx="3633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New Growth Opportunities: Venmo + International Markets</a:t>
            </a:r>
            <a:endParaRPr sz="2600">
              <a:solidFill>
                <a:srgbClr val="0F1A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6" name="Google Shape;466;p23"/>
          <p:cNvGrpSpPr/>
          <p:nvPr/>
        </p:nvGrpSpPr>
        <p:grpSpPr>
          <a:xfrm rot="2700000">
            <a:off x="9692624" y="-2435115"/>
            <a:ext cx="2741727" cy="2922839"/>
            <a:chOff x="0" y="-47625"/>
            <a:chExt cx="722100" cy="769800"/>
          </a:xfrm>
        </p:grpSpPr>
        <p:sp>
          <p:nvSpPr>
            <p:cNvPr id="467" name="Google Shape;467;p2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68" name="Google Shape;468;p2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p23"/>
          <p:cNvGrpSpPr/>
          <p:nvPr/>
        </p:nvGrpSpPr>
        <p:grpSpPr>
          <a:xfrm rot="2700000">
            <a:off x="4056857" y="9670886"/>
            <a:ext cx="2741727" cy="2922839"/>
            <a:chOff x="0" y="-47625"/>
            <a:chExt cx="722100" cy="769800"/>
          </a:xfrm>
        </p:grpSpPr>
        <p:sp>
          <p:nvSpPr>
            <p:cNvPr id="470" name="Google Shape;470;p23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71" name="Google Shape;471;p2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2" name="Google Shape;4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1800" y="4660240"/>
            <a:ext cx="1410625" cy="1911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5880" y="4563586"/>
            <a:ext cx="1851175" cy="210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480" y="4563588"/>
            <a:ext cx="1786312" cy="21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3"/>
          <p:cNvPicPr preferRelativeResize="0"/>
          <p:nvPr/>
        </p:nvPicPr>
        <p:blipFill rotWithShape="1">
          <a:blip r:embed="rId6">
            <a:alphaModFix/>
          </a:blip>
          <a:srcRect b="14913" l="27868" r="27868" t="18420"/>
          <a:stretch/>
        </p:blipFill>
        <p:spPr>
          <a:xfrm>
            <a:off x="523575" y="469750"/>
            <a:ext cx="1035049" cy="1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3"/>
          <p:cNvSpPr txBox="1"/>
          <p:nvPr/>
        </p:nvSpPr>
        <p:spPr>
          <a:xfrm>
            <a:off x="787475" y="1931325"/>
            <a:ext cx="12278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→ </a:t>
            </a:r>
            <a:r>
              <a:rPr lang="en-US" sz="10000" u="sng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Buy</a:t>
            </a:r>
            <a:r>
              <a:rPr lang="en-US" sz="10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10000">
                <a:solidFill>
                  <a:schemeClr val="accent6"/>
                </a:solidFill>
                <a:latin typeface="Anton"/>
                <a:ea typeface="Anton"/>
                <a:cs typeface="Anton"/>
                <a:sym typeface="Anton"/>
              </a:rPr>
              <a:t>PayPal</a:t>
            </a:r>
            <a:endParaRPr sz="420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24"/>
          <p:cNvPicPr preferRelativeResize="0"/>
          <p:nvPr/>
        </p:nvPicPr>
        <p:blipFill rotWithShape="1">
          <a:blip r:embed="rId3">
            <a:alphaModFix/>
          </a:blip>
          <a:srcRect b="4792" l="0" r="0" t="4792"/>
          <a:stretch/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24"/>
          <p:cNvGrpSpPr/>
          <p:nvPr/>
        </p:nvGrpSpPr>
        <p:grpSpPr>
          <a:xfrm rot="-2981231">
            <a:off x="2634125" y="-6192348"/>
            <a:ext cx="14032864" cy="34175084"/>
            <a:chOff x="0" y="-47625"/>
            <a:chExt cx="3481500" cy="9000900"/>
          </a:xfrm>
        </p:grpSpPr>
        <p:sp>
          <p:nvSpPr>
            <p:cNvPr id="483" name="Google Shape;483;p24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84" name="Google Shape;484;p24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24"/>
          <p:cNvGrpSpPr/>
          <p:nvPr/>
        </p:nvGrpSpPr>
        <p:grpSpPr>
          <a:xfrm>
            <a:off x="787475" y="1758433"/>
            <a:ext cx="1753143" cy="1934141"/>
            <a:chOff x="0" y="-47625"/>
            <a:chExt cx="461730" cy="509400"/>
          </a:xfrm>
        </p:grpSpPr>
        <p:sp>
          <p:nvSpPr>
            <p:cNvPr id="486" name="Google Shape;486;p24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87" name="Google Shape;487;p24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24"/>
          <p:cNvSpPr txBox="1"/>
          <p:nvPr/>
        </p:nvSpPr>
        <p:spPr>
          <a:xfrm>
            <a:off x="2896085" y="2099079"/>
            <a:ext cx="6480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Profit Growth Driven by Efficiency</a:t>
            </a:r>
            <a:endParaRPr sz="5000"/>
          </a:p>
        </p:txBody>
      </p:sp>
      <p:sp>
        <p:nvSpPr>
          <p:cNvPr id="489" name="Google Shape;489;p24"/>
          <p:cNvSpPr txBox="1"/>
          <p:nvPr/>
        </p:nvSpPr>
        <p:spPr>
          <a:xfrm>
            <a:off x="989234" y="2319881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1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2540625" y="4034050"/>
            <a:ext cx="10476900" cy="5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Profit growth now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outpacing 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 growth due to major cost-cutting initiatives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Actions taken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workforce reductions, shutdown of underperforming products (e.g., PayPal Rewards), infrastructure optimization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changes are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expanding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operating margins and boosting EPS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Management guiding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20%+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GAAP EPS growth in 2025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PayPal positioned to deliver earnings growth ahead of revenue over the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next 2–3 years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91" name="Google Shape;491;p24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492" name="Google Shape;492;p2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93" name="Google Shape;493;p2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24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495" name="Google Shape;495;p24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96" name="Google Shape;496;p2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24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498" name="Google Shape;498;p2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99" name="Google Shape;499;p2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02" name="Google Shape;502;p2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3" name="Google Shape;503;p24"/>
          <p:cNvPicPr preferRelativeResize="0"/>
          <p:nvPr/>
        </p:nvPicPr>
        <p:blipFill rotWithShape="1">
          <a:blip r:embed="rId4">
            <a:alphaModFix/>
          </a:blip>
          <a:srcRect b="14913" l="27868" r="27868" t="18420"/>
          <a:stretch/>
        </p:blipFill>
        <p:spPr>
          <a:xfrm>
            <a:off x="523575" y="469750"/>
            <a:ext cx="1035049" cy="116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25"/>
          <p:cNvGrpSpPr/>
          <p:nvPr/>
        </p:nvGrpSpPr>
        <p:grpSpPr>
          <a:xfrm rot="-2981231">
            <a:off x="2601280" y="-6225192"/>
            <a:ext cx="14032864" cy="34175084"/>
            <a:chOff x="0" y="-47625"/>
            <a:chExt cx="3481500" cy="9000900"/>
          </a:xfrm>
        </p:grpSpPr>
        <p:sp>
          <p:nvSpPr>
            <p:cNvPr id="510" name="Google Shape;510;p25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511" name="Google Shape;511;p25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25"/>
          <p:cNvGrpSpPr/>
          <p:nvPr/>
        </p:nvGrpSpPr>
        <p:grpSpPr>
          <a:xfrm>
            <a:off x="787475" y="1758433"/>
            <a:ext cx="1753143" cy="1934141"/>
            <a:chOff x="0" y="-47625"/>
            <a:chExt cx="461730" cy="509400"/>
          </a:xfrm>
        </p:grpSpPr>
        <p:sp>
          <p:nvSpPr>
            <p:cNvPr id="513" name="Google Shape;513;p25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14" name="Google Shape;514;p25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p25"/>
          <p:cNvSpPr txBox="1"/>
          <p:nvPr/>
        </p:nvSpPr>
        <p:spPr>
          <a:xfrm>
            <a:off x="2896085" y="2099079"/>
            <a:ext cx="6480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Strong, More Connected Platform</a:t>
            </a:r>
            <a:endParaRPr sz="50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989234" y="2319881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1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2338925" y="4415050"/>
            <a:ext cx="11332200" cy="5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PayPal consolidating payments, fraud protection, financing, and identity tools into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PayPal Open 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Creates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single, integrated system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for both consumers and businesses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Benefits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better conversion rates, fewer fraud losses, faster and easier onboarding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PayPal Complete Payments (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PCP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 gaining traction with small businesses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Platform upgrades expected to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improve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customer retention and increase usage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8" name="Google Shape;518;p25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519" name="Google Shape;519;p25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20" name="Google Shape;520;p25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25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522" name="Google Shape;522;p25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23" name="Google Shape;523;p25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25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525" name="Google Shape;525;p2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26" name="Google Shape;526;p2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25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528" name="Google Shape;528;p25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29" name="Google Shape;529;p2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0" name="Google Shape;530;p25"/>
          <p:cNvPicPr preferRelativeResize="0"/>
          <p:nvPr/>
        </p:nvPicPr>
        <p:blipFill rotWithShape="1">
          <a:blip r:embed="rId4">
            <a:alphaModFix/>
          </a:blip>
          <a:srcRect b="14913" l="27868" r="27868" t="18420"/>
          <a:stretch/>
        </p:blipFill>
        <p:spPr>
          <a:xfrm>
            <a:off x="523575" y="469750"/>
            <a:ext cx="1035049" cy="116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26"/>
          <p:cNvPicPr preferRelativeResize="0"/>
          <p:nvPr/>
        </p:nvPicPr>
        <p:blipFill rotWithShape="1">
          <a:blip r:embed="rId3">
            <a:alphaModFix/>
          </a:blip>
          <a:srcRect b="0" l="0" r="0" t="9584"/>
          <a:stretch/>
        </p:blipFill>
        <p:spPr>
          <a:xfrm>
            <a:off x="7125401" y="-5326950"/>
            <a:ext cx="12195024" cy="16540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26"/>
          <p:cNvGrpSpPr/>
          <p:nvPr/>
        </p:nvGrpSpPr>
        <p:grpSpPr>
          <a:xfrm rot="-2981231">
            <a:off x="2601280" y="-6225192"/>
            <a:ext cx="14032864" cy="34175084"/>
            <a:chOff x="0" y="-47625"/>
            <a:chExt cx="3481500" cy="9000900"/>
          </a:xfrm>
        </p:grpSpPr>
        <p:sp>
          <p:nvSpPr>
            <p:cNvPr id="537" name="Google Shape;537;p26"/>
            <p:cNvSpPr/>
            <p:nvPr/>
          </p:nvSpPr>
          <p:spPr>
            <a:xfrm>
              <a:off x="0" y="0"/>
              <a:ext cx="3481480" cy="8953198"/>
            </a:xfrm>
            <a:custGeom>
              <a:rect b="b" l="l" r="r" t="t"/>
              <a:pathLst>
                <a:path extrusionOk="0" h="8953198" w="348148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538" name="Google Shape;538;p26"/>
            <p:cNvSpPr txBox="1"/>
            <p:nvPr/>
          </p:nvSpPr>
          <p:spPr>
            <a:xfrm>
              <a:off x="0" y="-47625"/>
              <a:ext cx="3481500" cy="90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26"/>
          <p:cNvSpPr txBox="1"/>
          <p:nvPr/>
        </p:nvSpPr>
        <p:spPr>
          <a:xfrm>
            <a:off x="2896075" y="2099075"/>
            <a:ext cx="778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New Growth Opportunities: Venmo + International Markets</a:t>
            </a:r>
            <a:endParaRPr sz="50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540" name="Google Shape;540;p26"/>
          <p:cNvGrpSpPr/>
          <p:nvPr/>
        </p:nvGrpSpPr>
        <p:grpSpPr>
          <a:xfrm>
            <a:off x="787475" y="1758433"/>
            <a:ext cx="1753143" cy="1934141"/>
            <a:chOff x="0" y="-47625"/>
            <a:chExt cx="461730" cy="509400"/>
          </a:xfrm>
        </p:grpSpPr>
        <p:sp>
          <p:nvSpPr>
            <p:cNvPr id="541" name="Google Shape;541;p26"/>
            <p:cNvSpPr/>
            <p:nvPr/>
          </p:nvSpPr>
          <p:spPr>
            <a:xfrm>
              <a:off x="0" y="0"/>
              <a:ext cx="461730" cy="461730"/>
            </a:xfrm>
            <a:custGeom>
              <a:rect b="b" l="l" r="r" t="t"/>
              <a:pathLst>
                <a:path extrusionOk="0" h="461730" w="46173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42" name="Google Shape;542;p26"/>
            <p:cNvSpPr txBox="1"/>
            <p:nvPr/>
          </p:nvSpPr>
          <p:spPr>
            <a:xfrm>
              <a:off x="0" y="-47625"/>
              <a:ext cx="461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" name="Google Shape;543;p26"/>
          <p:cNvSpPr txBox="1"/>
          <p:nvPr/>
        </p:nvSpPr>
        <p:spPr>
          <a:xfrm>
            <a:off x="989234" y="2319881"/>
            <a:ext cx="13497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1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65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544" name="Google Shape;544;p26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545" name="Google Shape;545;p26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46" name="Google Shape;546;p26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7" name="Google Shape;547;p26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548" name="Google Shape;548;p26"/>
            <p:cNvSpPr/>
            <p:nvPr/>
          </p:nvSpPr>
          <p:spPr>
            <a:xfrm>
              <a:off x="0" y="0"/>
              <a:ext cx="749835" cy="749835"/>
            </a:xfrm>
            <a:custGeom>
              <a:rect b="b" l="l" r="r" t="t"/>
              <a:pathLst>
                <a:path extrusionOk="0" h="749835" w="749835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49" name="Google Shape;549;p26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0" name="Google Shape;550;p26"/>
          <p:cNvGrpSpPr/>
          <p:nvPr/>
        </p:nvGrpSpPr>
        <p:grpSpPr>
          <a:xfrm rot="2700000">
            <a:off x="4732578" y="-1810185"/>
            <a:ext cx="2741727" cy="2922839"/>
            <a:chOff x="0" y="-47625"/>
            <a:chExt cx="722100" cy="769800"/>
          </a:xfrm>
        </p:grpSpPr>
        <p:sp>
          <p:nvSpPr>
            <p:cNvPr id="551" name="Google Shape;551;p2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52" name="Google Shape;552;p2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" name="Google Shape;553;p26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554" name="Google Shape;554;p26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55" name="Google Shape;555;p2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6" name="Google Shape;556;p26"/>
          <p:cNvPicPr preferRelativeResize="0"/>
          <p:nvPr/>
        </p:nvPicPr>
        <p:blipFill rotWithShape="1">
          <a:blip r:embed="rId4">
            <a:alphaModFix/>
          </a:blip>
          <a:srcRect b="14913" l="27868" r="27868" t="18420"/>
          <a:stretch/>
        </p:blipFill>
        <p:spPr>
          <a:xfrm>
            <a:off x="523575" y="469750"/>
            <a:ext cx="1035049" cy="1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6"/>
          <p:cNvSpPr txBox="1"/>
          <p:nvPr/>
        </p:nvSpPr>
        <p:spPr>
          <a:xfrm>
            <a:off x="2338925" y="4376950"/>
            <a:ext cx="10323000" cy="55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Venmo 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still early in monetization, especially in business payments and online checkout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Growth drivers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Venmo Business Profiles, Pay with Venmo,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rising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adoption among merchants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expansion in Germany, Brazil, and other markets with growing branded checkout and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BNPL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demand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PayPal’s global merchant relationships create potential for Venmo features to scale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internationally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Represents a </a:t>
            </a:r>
            <a:r>
              <a:rPr lang="en-US" sz="2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long-term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opportunity for sustained revenue and earnings growth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7"/>
          <p:cNvSpPr txBox="1"/>
          <p:nvPr/>
        </p:nvSpPr>
        <p:spPr>
          <a:xfrm>
            <a:off x="787475" y="1958225"/>
            <a:ext cx="5276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Comparisons</a:t>
            </a:r>
            <a:endParaRPr/>
          </a:p>
        </p:txBody>
      </p:sp>
      <p:grpSp>
        <p:nvGrpSpPr>
          <p:cNvPr id="563" name="Google Shape;563;p27"/>
          <p:cNvGrpSpPr/>
          <p:nvPr/>
        </p:nvGrpSpPr>
        <p:grpSpPr>
          <a:xfrm rot="2700000">
            <a:off x="9708310" y="-1525186"/>
            <a:ext cx="2741727" cy="2922839"/>
            <a:chOff x="0" y="-47625"/>
            <a:chExt cx="722100" cy="769800"/>
          </a:xfrm>
        </p:grpSpPr>
        <p:sp>
          <p:nvSpPr>
            <p:cNvPr id="564" name="Google Shape;564;p2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65" name="Google Shape;565;p2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27"/>
          <p:cNvGrpSpPr/>
          <p:nvPr/>
        </p:nvGrpSpPr>
        <p:grpSpPr>
          <a:xfrm rot="2700000">
            <a:off x="16980967" y="3618314"/>
            <a:ext cx="2741727" cy="2922839"/>
            <a:chOff x="0" y="-47625"/>
            <a:chExt cx="722100" cy="769800"/>
          </a:xfrm>
        </p:grpSpPr>
        <p:sp>
          <p:nvSpPr>
            <p:cNvPr id="567" name="Google Shape;567;p2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68" name="Google Shape;568;p2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27"/>
          <p:cNvGrpSpPr/>
          <p:nvPr/>
        </p:nvGrpSpPr>
        <p:grpSpPr>
          <a:xfrm rot="2700000">
            <a:off x="11646939" y="-2119717"/>
            <a:ext cx="2741727" cy="2922839"/>
            <a:chOff x="0" y="-47625"/>
            <a:chExt cx="722100" cy="769800"/>
          </a:xfrm>
        </p:grpSpPr>
        <p:sp>
          <p:nvSpPr>
            <p:cNvPr id="570" name="Google Shape;570;p2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71" name="Google Shape;571;p2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27"/>
          <p:cNvGrpSpPr/>
          <p:nvPr/>
        </p:nvGrpSpPr>
        <p:grpSpPr>
          <a:xfrm rot="2700000">
            <a:off x="-2216962" y="4095699"/>
            <a:ext cx="2741727" cy="2922839"/>
            <a:chOff x="0" y="-47625"/>
            <a:chExt cx="722100" cy="769800"/>
          </a:xfrm>
        </p:grpSpPr>
        <p:sp>
          <p:nvSpPr>
            <p:cNvPr id="573" name="Google Shape;573;p27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74" name="Google Shape;574;p2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5" name="Google Shape;575;p27"/>
          <p:cNvPicPr preferRelativeResize="0"/>
          <p:nvPr/>
        </p:nvPicPr>
        <p:blipFill rotWithShape="1">
          <a:blip r:embed="rId3">
            <a:alphaModFix/>
          </a:blip>
          <a:srcRect b="14913" l="27868" r="27868" t="18420"/>
          <a:stretch/>
        </p:blipFill>
        <p:spPr>
          <a:xfrm>
            <a:off x="523575" y="469750"/>
            <a:ext cx="1035049" cy="116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612" y="4015797"/>
            <a:ext cx="17922776" cy="354405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7"/>
          <p:cNvSpPr/>
          <p:nvPr/>
        </p:nvSpPr>
        <p:spPr>
          <a:xfrm>
            <a:off x="13008631" y="6984758"/>
            <a:ext cx="1294500" cy="757200"/>
          </a:xfrm>
          <a:prstGeom prst="ellipse">
            <a:avLst/>
          </a:prstGeom>
          <a:noFill/>
          <a:ln cap="flat" cmpd="sng" w="76200">
            <a:solidFill>
              <a:srgbClr val="52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16993506" y="6984758"/>
            <a:ext cx="1294500" cy="757200"/>
          </a:xfrm>
          <a:prstGeom prst="ellipse">
            <a:avLst/>
          </a:prstGeom>
          <a:noFill/>
          <a:ln cap="flat" cmpd="sng" w="76200">
            <a:solidFill>
              <a:srgbClr val="52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28"/>
          <p:cNvGrpSpPr/>
          <p:nvPr/>
        </p:nvGrpSpPr>
        <p:grpSpPr>
          <a:xfrm rot="2700000">
            <a:off x="6999157" y="-1685391"/>
            <a:ext cx="2596748" cy="2777574"/>
            <a:chOff x="0" y="-47625"/>
            <a:chExt cx="683917" cy="731542"/>
          </a:xfrm>
        </p:grpSpPr>
        <p:sp>
          <p:nvSpPr>
            <p:cNvPr id="584" name="Google Shape;584;p28"/>
            <p:cNvSpPr/>
            <p:nvPr/>
          </p:nvSpPr>
          <p:spPr>
            <a:xfrm>
              <a:off x="0" y="0"/>
              <a:ext cx="683917" cy="683917"/>
            </a:xfrm>
            <a:custGeom>
              <a:rect b="b" l="l" r="r" t="t"/>
              <a:pathLst>
                <a:path extrusionOk="0" h="683917" w="683917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5" name="Google Shape;585;p28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6" name="Google Shape;586;p28"/>
          <p:cNvGrpSpPr/>
          <p:nvPr/>
        </p:nvGrpSpPr>
        <p:grpSpPr>
          <a:xfrm rot="2700000">
            <a:off x="16801248" y="3853613"/>
            <a:ext cx="2596751" cy="2777578"/>
            <a:chOff x="0" y="-47625"/>
            <a:chExt cx="683917" cy="731542"/>
          </a:xfrm>
        </p:grpSpPr>
        <p:sp>
          <p:nvSpPr>
            <p:cNvPr id="587" name="Google Shape;587;p28"/>
            <p:cNvSpPr/>
            <p:nvPr/>
          </p:nvSpPr>
          <p:spPr>
            <a:xfrm>
              <a:off x="0" y="0"/>
              <a:ext cx="683917" cy="683917"/>
            </a:xfrm>
            <a:custGeom>
              <a:rect b="b" l="l" r="r" t="t"/>
              <a:pathLst>
                <a:path extrusionOk="0" h="683917" w="683917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8" name="Google Shape;588;p28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28"/>
          <p:cNvGrpSpPr/>
          <p:nvPr/>
        </p:nvGrpSpPr>
        <p:grpSpPr>
          <a:xfrm rot="2700000">
            <a:off x="-279134" y="7340335"/>
            <a:ext cx="2741640" cy="2922467"/>
            <a:chOff x="0" y="-47625"/>
            <a:chExt cx="722077" cy="769702"/>
          </a:xfrm>
        </p:grpSpPr>
        <p:sp>
          <p:nvSpPr>
            <p:cNvPr id="590" name="Google Shape;590;p28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1" name="Google Shape;591;p2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2" name="Google Shape;592;p28"/>
          <p:cNvSpPr txBox="1"/>
          <p:nvPr/>
        </p:nvSpPr>
        <p:spPr>
          <a:xfrm>
            <a:off x="388850" y="300475"/>
            <a:ext cx="65928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Income Statement</a:t>
            </a:r>
            <a:endParaRPr sz="6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593" name="Google Shape;5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325" y="1603511"/>
            <a:ext cx="9977348" cy="837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29"/>
          <p:cNvGrpSpPr/>
          <p:nvPr/>
        </p:nvGrpSpPr>
        <p:grpSpPr>
          <a:xfrm rot="2700000">
            <a:off x="6999109" y="-1685279"/>
            <a:ext cx="2597066" cy="2777578"/>
            <a:chOff x="0" y="-47625"/>
            <a:chExt cx="684000" cy="731542"/>
          </a:xfrm>
        </p:grpSpPr>
        <p:sp>
          <p:nvSpPr>
            <p:cNvPr id="599" name="Google Shape;599;p29"/>
            <p:cNvSpPr/>
            <p:nvPr/>
          </p:nvSpPr>
          <p:spPr>
            <a:xfrm>
              <a:off x="0" y="0"/>
              <a:ext cx="683917" cy="683917"/>
            </a:xfrm>
            <a:custGeom>
              <a:rect b="b" l="l" r="r" t="t"/>
              <a:pathLst>
                <a:path extrusionOk="0" h="683917" w="683917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00" name="Google Shape;600;p29"/>
            <p:cNvSpPr txBox="1"/>
            <p:nvPr/>
          </p:nvSpPr>
          <p:spPr>
            <a:xfrm>
              <a:off x="0" y="-47625"/>
              <a:ext cx="6840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1" name="Google Shape;601;p29"/>
          <p:cNvGrpSpPr/>
          <p:nvPr/>
        </p:nvGrpSpPr>
        <p:grpSpPr>
          <a:xfrm rot="2700000">
            <a:off x="16801202" y="3853724"/>
            <a:ext cx="2597066" cy="2777578"/>
            <a:chOff x="0" y="-47625"/>
            <a:chExt cx="684000" cy="731542"/>
          </a:xfrm>
        </p:grpSpPr>
        <p:sp>
          <p:nvSpPr>
            <p:cNvPr id="602" name="Google Shape;602;p29"/>
            <p:cNvSpPr/>
            <p:nvPr/>
          </p:nvSpPr>
          <p:spPr>
            <a:xfrm>
              <a:off x="0" y="0"/>
              <a:ext cx="683917" cy="683917"/>
            </a:xfrm>
            <a:custGeom>
              <a:rect b="b" l="l" r="r" t="t"/>
              <a:pathLst>
                <a:path extrusionOk="0" h="683917" w="683917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03" name="Google Shape;603;p29"/>
            <p:cNvSpPr txBox="1"/>
            <p:nvPr/>
          </p:nvSpPr>
          <p:spPr>
            <a:xfrm>
              <a:off x="0" y="-47625"/>
              <a:ext cx="6840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29"/>
          <p:cNvGrpSpPr/>
          <p:nvPr/>
        </p:nvGrpSpPr>
        <p:grpSpPr>
          <a:xfrm rot="2700000">
            <a:off x="-279279" y="7340311"/>
            <a:ext cx="2741727" cy="2922839"/>
            <a:chOff x="0" y="-47625"/>
            <a:chExt cx="722100" cy="769800"/>
          </a:xfrm>
        </p:grpSpPr>
        <p:sp>
          <p:nvSpPr>
            <p:cNvPr id="605" name="Google Shape;605;p29"/>
            <p:cNvSpPr/>
            <p:nvPr/>
          </p:nvSpPr>
          <p:spPr>
            <a:xfrm>
              <a:off x="0" y="0"/>
              <a:ext cx="722077" cy="722077"/>
            </a:xfrm>
            <a:custGeom>
              <a:rect b="b" l="l" r="r" t="t"/>
              <a:pathLst>
                <a:path extrusionOk="0" h="722077" w="722077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06" name="Google Shape;606;p2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p29"/>
          <p:cNvSpPr txBox="1"/>
          <p:nvPr/>
        </p:nvSpPr>
        <p:spPr>
          <a:xfrm>
            <a:off x="388850" y="300475"/>
            <a:ext cx="65928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Revenue Buildout</a:t>
            </a:r>
            <a:endParaRPr sz="6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608" name="Google Shape;6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362" y="2381258"/>
            <a:ext cx="11201400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ock Management System Project Proposal">
  <a:themeElements>
    <a:clrScheme name="Office">
      <a:dk1>
        <a:srgbClr val="000000"/>
      </a:dk1>
      <a:lt1>
        <a:srgbClr val="FFFFFF"/>
      </a:lt1>
      <a:dk2>
        <a:srgbClr val="545454"/>
      </a:dk2>
      <a:lt2>
        <a:srgbClr val="888888"/>
      </a:lt2>
      <a:accent1>
        <a:srgbClr val="0F1A38"/>
      </a:accent1>
      <a:accent2>
        <a:srgbClr val="5271FF"/>
      </a:accent2>
      <a:accent3>
        <a:srgbClr val="545454"/>
      </a:accent3>
      <a:accent4>
        <a:srgbClr val="888888"/>
      </a:accent4>
      <a:accent5>
        <a:srgbClr val="0F1A38"/>
      </a:accent5>
      <a:accent6>
        <a:srgbClr val="5271FF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